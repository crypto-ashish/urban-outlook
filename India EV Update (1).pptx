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Calendar-year retail registrations (Vahan). H1 2026 covers January to June only, so it is shown dashed and is not directly comparable with full years. Maruti Suzuki entered with the e-Vitara in January 2026, so it has no earlier data. 2025 figures are the early-January 2026 Vahan snapshot; later Vahan updates revised the CY2025 total upward to about 194,646 units (Tata 76,629, Mahindra 37,235). Market share is each OEM's units divided by total e-PV units for that period. Mahindra overtook MG for the No. 2 spot in March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 E-DRIVE replaced FAME II in October 2024 with an initial outlay of Rs 10,900 crore, raised to Rs 11,900 crore in August 2026, almost entirely for electric two-wheelers. The e-2W subsidy covers up to about 4.58 million vehicles with an ex-factory price up to Rs 1.5 lakh; claims close 31 December 2027. Electric cars get no PM E-DRIVE purchase subsidy. SPMEPCI: Tesla, Hyundai and Volkswagen showed interest but did not formally apply. REPM bidders include L&amp;T and Coal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711200" y="553161"/>
            <a:ext cx="10769600" cy="369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5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52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711200" y="1227154"/>
            <a:ext cx="10668000" cy="481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711200" y="553161"/>
            <a:ext cx="10769600" cy="369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52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52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711200" y="1227154"/>
            <a:ext cx="10668000" cy="481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457200"/>
            <a:ext cx="11092688" cy="230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00" kern="0" dirty="0">
                <a:solidFill>
                  <a:srgbClr val="1F5FA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INDIA ELECTRIC PASSENGER VEHICLES · OEM-WISE RETAIL SALES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11200" y="699922"/>
            <a:ext cx="11092688" cy="400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4"/>
              </a:lnSpc>
              <a:buNone/>
            </a:pPr>
            <a:r>
              <a:rPr lang="en-US" sz="2704" b="1" i="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Tata still leads, but Mahindra and MG have cut its share in half</a:t>
            </a:r>
            <a:endParaRPr lang="en-US" sz="2704" dirty="0"/>
          </a:p>
        </p:txBody>
      </p:sp>
      <p:sp>
        <p:nvSpPr>
          <p:cNvPr id="4" name="Text 2"/>
          <p:cNvSpPr/>
          <p:nvPr/>
        </p:nvSpPr>
        <p:spPr>
          <a:xfrm>
            <a:off x="711200" y="1252901"/>
            <a:ext cx="5755640" cy="247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volume (units)</a:t>
            </a:r>
            <a:endParaRPr lang="en-US" sz="1268" dirty="0"/>
          </a:p>
        </p:txBody>
      </p:sp>
      <p:sp>
        <p:nvSpPr>
          <p:cNvPr id="5" name="Shape 3"/>
          <p:cNvSpPr/>
          <p:nvPr/>
        </p:nvSpPr>
        <p:spPr>
          <a:xfrm>
            <a:off x="6296025" y="1525323"/>
            <a:ext cx="0" cy="197769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1200" y="3499842"/>
            <a:ext cx="5588000" cy="0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900" y="1538023"/>
          <a:ext cx="5568950" cy="1958644"/>
        </p:xfrm>
        <a:graphic>
          <a:graphicData uri="http://schemas.openxmlformats.org/drawingml/2006/table">
            <a:tbl>
              <a:tblPr/>
              <a:tblGrid>
                <a:gridCol w="928158"/>
                <a:gridCol w="928158"/>
                <a:gridCol w="928158"/>
                <a:gridCol w="928158"/>
                <a:gridCol w="928158"/>
                <a:gridCol w="928158"/>
              </a:tblGrid>
              <a:tr h="326430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Year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Tata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Mahindra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MG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Maruti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Total e-PV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6430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2022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31,972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280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3,429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–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38,209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430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2023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60,007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4,269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9,523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–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82,563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26430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2024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61,435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7,104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21,464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–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99,004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463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2025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70,004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33,513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51,387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–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176,538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26463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H1 2026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57,380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34,131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31,819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6,404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148,023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11200" y="3655417"/>
            <a:ext cx="5755640" cy="247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 share (% of total e-PV)</a:t>
            </a:r>
            <a:endParaRPr lang="en-US" sz="1268" dirty="0"/>
          </a:p>
        </p:txBody>
      </p:sp>
      <p:sp>
        <p:nvSpPr>
          <p:cNvPr id="9" name="Shape 6"/>
          <p:cNvSpPr/>
          <p:nvPr/>
        </p:nvSpPr>
        <p:spPr>
          <a:xfrm>
            <a:off x="6296025" y="3927839"/>
            <a:ext cx="0" cy="1977661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1200" y="5902325"/>
            <a:ext cx="5588000" cy="0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900" y="3940539"/>
          <a:ext cx="5568950" cy="1958611"/>
        </p:xfrm>
        <a:graphic>
          <a:graphicData uri="http://schemas.openxmlformats.org/drawingml/2006/table">
            <a:tbl>
              <a:tblPr/>
              <a:tblGrid>
                <a:gridCol w="928158"/>
                <a:gridCol w="928158"/>
                <a:gridCol w="928158"/>
                <a:gridCol w="928158"/>
                <a:gridCol w="928158"/>
                <a:gridCol w="928158"/>
              </a:tblGrid>
              <a:tr h="326430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Year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Tata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Mahindra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MG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Maruti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Top 4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6430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2022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83.7%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0.7%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9.0%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–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93.4%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430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2023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72.7%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5.2%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11.5%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–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89.4%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26430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2024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62.1%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7.2%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21.7%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–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91.0%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430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2025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39.7%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19.0%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29.1%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–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87.8%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26463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H1 2026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38.8%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23.1%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21.5%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4.3%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87.7%</a:t>
                      </a:r>
                      <a:endParaRPr lang="en-US" sz="1121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57150" marB="57150" anchor="t">
                    <a:lnL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657975" y="1256076"/>
            <a:ext cx="4819650" cy="224376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88150" y="1360851"/>
            <a:ext cx="4696079" cy="25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volume trend (units)</a:t>
            </a:r>
            <a:endParaRPr lang="en-US" sz="1300" dirty="0"/>
          </a:p>
        </p:txBody>
      </p:sp>
      <p:pic>
        <p:nvPicPr>
          <p:cNvPr id="14" name="Image 0" descr="Line chart of e-PV sales volume 2022 to H1 2026: Tata rises from 31,972 to 70,004 in 2025, then 57,380 in H1 2026; Mahindra from 280 to 33,513 in 2025 and 34,131 in H1 2026; MG from 3,429 to 51,387 in 2025 and 31,819 in H1 2026; Maruti 6,404 in H1 2026.">    </p:cNvPr>
          <p:cNvPicPr>
            <a:picLocks noChangeAspect="1"/>
          </p:cNvPicPr>
          <p:nvPr/>
        </p:nvPicPr>
        <p:blipFill>
          <a:blip r:embed="rId1"/>
          <a:srcRect l="-944" r="-944" t="0" b="0"/>
          <a:stretch/>
        </p:blipFill>
        <p:spPr>
          <a:xfrm>
            <a:off x="6661150" y="1638498"/>
            <a:ext cx="4813300" cy="1807369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657975" y="3658592"/>
            <a:ext cx="4819650" cy="224373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788150" y="3763367"/>
            <a:ext cx="4696079" cy="252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 share trend (%)</a:t>
            </a:r>
            <a:endParaRPr lang="en-US" sz="1300" dirty="0"/>
          </a:p>
        </p:txBody>
      </p:sp>
      <p:pic>
        <p:nvPicPr>
          <p:cNvPr id="17" name="Image 1" descr="Line chart of e-PV market share 2022 to H1 2026: Tata falls from 83.7% to 38.8%; Mahindra rises from 0.7% to 23.1%; MG rises from 9.0% to 29.1% in 2025, then 21.5% in H1 2026; Maruti 4.3% in H1 2026.">    </p:cNvPr>
          <p:cNvPicPr>
            <a:picLocks noChangeAspect="1"/>
          </p:cNvPicPr>
          <p:nvPr/>
        </p:nvPicPr>
        <p:blipFill>
          <a:blip r:embed="rId2"/>
          <a:srcRect l="-944" r="-944" t="0" b="0"/>
          <a:stretch/>
        </p:blipFill>
        <p:spPr>
          <a:xfrm>
            <a:off x="6661150" y="4040981"/>
            <a:ext cx="4813300" cy="18073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1200" y="6238247"/>
            <a:ext cx="11092688" cy="238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Source: Vahan retail registrations, via Autocar Professional, Autocar India, Electrive, e-Vehicleinfo · Dashed line / hollow marker = H1 2026 (Jan–Jun)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711200" y="406400"/>
            <a:ext cx="11092688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0B25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 Policies in India: Present Status (Oct 2026)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7625" y="947407"/>
            <a:ext cx="0" cy="4197251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1200" y="5141483"/>
            <a:ext cx="10769600" cy="0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900" y="960107"/>
          <a:ext cx="10750550" cy="4178201"/>
        </p:xfrm>
        <a:graphic>
          <a:graphicData uri="http://schemas.openxmlformats.org/drawingml/2006/table">
            <a:tbl>
              <a:tblPr/>
              <a:tblGrid>
                <a:gridCol w="1612583"/>
                <a:gridCol w="2472627"/>
                <a:gridCol w="1075055"/>
                <a:gridCol w="1290066"/>
                <a:gridCol w="1075055"/>
                <a:gridCol w="3225165"/>
              </a:tblGrid>
              <a:tr h="353053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Policy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What it supports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Outlay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Tenure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Status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9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Latest update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797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PM E-DRIVE: e-2W &amp; e-3W subsidy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Purchase incentive for e-2W, e-rickshaws, e-carts and L5 e-3W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₹11,900 cr (whole scheme)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Oct 2024 – Mar 2028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Extended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e-2W extended to Mar 2028 (Aug 2026): ₹2,500/kWh, max ₹5,000. L5 e-3W closed Dec 2025 after hitting target.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2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97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PM E-DRIVE: buses, trucks &amp; charging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14,028 e-buses, e-trucks, e-ambulances, ~72,000 public chargers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Part of ₹11,900 cr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 Mar 2028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 progress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Buses allocated: Bengaluru ~4,500, Delhi 2,800, Hyderabad 2,000. ₹500 cr each for e-trucks and e-ambulances.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56640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PLI Auto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Sales-linked incentive for advanced auto tech, incl. EVs and parts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₹25,938 cr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FY24 – FY28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Disbursing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₹2,322 cr paid by Dec 2025; ₹35,657 cr invested by applicants (Sep 2025).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40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PLI ACC (battery cells)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50 GWh of domestic advanced-chemistry cell capacity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₹18,100 cr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Approved May 2021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Lagging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40 GWh awarded (Ola 20, Reliance 15, Rajesh Exports 5); ~1 GWh commissioned (Mar 2026).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56640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SPMEPCI (EV car import)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15% import duty on EVs for makers investing ≥₹4,150 cr locally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Duty foregone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Notified Jun 2025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Stalled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OEM applied; application portal shut (Jan 2026).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40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REPM (rare-earth magnets)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Sintered magnet plants for EV motors, 6,000 tonnes a year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₹7,280 cr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 yrs (2 build + 5 incentive)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Bidding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3A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Tender Mar 2026; 20 bids received (Aug 2026) for 5 slots; awards pending.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11200" y="6238247"/>
            <a:ext cx="11092688" cy="238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Source: Ministry of Heavy Industries data via Autocar Professional, Electrive, pv magazine India, Angel One · Status as of Oct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ia EV Update">
  <a:themeElements>
    <a:clrScheme name="India EV Update">
      <a:dk1>
        <a:srgbClr val="0B2545"/>
      </a:dk1>
      <a:lt1>
        <a:srgbClr val="F7F9FC"/>
      </a:lt1>
      <a:dk2>
        <a:srgbClr val="465A73"/>
      </a:dk2>
      <a:lt2>
        <a:srgbClr val="DFE4EA"/>
      </a:lt2>
      <a:accent1>
        <a:srgbClr val="1F5FAE"/>
      </a:accent1>
      <a:accent2>
        <a:srgbClr val="2B3A4E"/>
      </a:accent2>
      <a:accent3>
        <a:srgbClr val="5A6B80"/>
      </a:accent3>
      <a:accent4>
        <a:srgbClr val="9AA0A6"/>
      </a:accent4>
      <a:accent5>
        <a:srgbClr val="697A8E"/>
      </a:accent5>
      <a:accent6>
        <a:srgbClr val="8D9AAA"/>
      </a:accent6>
      <a:hlink>
        <a:srgbClr val="0563C1"/>
      </a:hlink>
      <a:folHlink>
        <a:srgbClr val="954F72"/>
      </a:folHlink>
    </a:clrScheme>
    <a:fontScheme name="India EV Updat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EV Update</dc:title>
  <dc:subject/>
  <dc:creator/>
  <cp:lastModifiedBy/>
  <cp:revision>1</cp:revision>
  <dcterms:created xsi:type="dcterms:W3CDTF">2026-10-09T06:02:03Z</dcterms:created>
  <dcterms:modified xsi:type="dcterms:W3CDTF">2026-10-09T06:02:03Z</dcterms:modified>
</cp:coreProperties>
</file>